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Montserrat" panose="00000500000000000000" pitchFamily="2" charset="0"/>
      <p:regular r:id="rId6"/>
    </p:embeddedFont>
    <p:embeddedFont>
      <p:font typeface="Montserrat Bold" panose="020B0604020202020204" charset="0"/>
      <p:regular r:id="rId7"/>
    </p:embeddedFont>
    <p:embeddedFont>
      <p:font typeface="Scripter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9375">
            <a:off x="-1260376" y="-1597731"/>
            <a:ext cx="4740431" cy="3986752"/>
          </a:xfrm>
          <a:custGeom>
            <a:avLst/>
            <a:gdLst/>
            <a:ahLst/>
            <a:cxnLst/>
            <a:rect l="l" t="t" r="r" b="b"/>
            <a:pathLst>
              <a:path w="4740431" h="3986752">
                <a:moveTo>
                  <a:pt x="0" y="0"/>
                </a:moveTo>
                <a:lnTo>
                  <a:pt x="4740432" y="0"/>
                </a:lnTo>
                <a:lnTo>
                  <a:pt x="4740432" y="3986752"/>
                </a:lnTo>
                <a:lnTo>
                  <a:pt x="0" y="39867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" name="Freeform 3"/>
          <p:cNvSpPr/>
          <p:nvPr/>
        </p:nvSpPr>
        <p:spPr>
          <a:xfrm rot="1692069" flipV="1">
            <a:off x="-1341516" y="8021215"/>
            <a:ext cx="4740431" cy="3986752"/>
          </a:xfrm>
          <a:custGeom>
            <a:avLst/>
            <a:gdLst/>
            <a:ahLst/>
            <a:cxnLst/>
            <a:rect l="l" t="t" r="r" b="b"/>
            <a:pathLst>
              <a:path w="4740431" h="3986752">
                <a:moveTo>
                  <a:pt x="0" y="3986752"/>
                </a:moveTo>
                <a:lnTo>
                  <a:pt x="4740432" y="3986752"/>
                </a:lnTo>
                <a:lnTo>
                  <a:pt x="4740432" y="0"/>
                </a:lnTo>
                <a:lnTo>
                  <a:pt x="0" y="0"/>
                </a:lnTo>
                <a:lnTo>
                  <a:pt x="0" y="398675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4" name="Freeform 4"/>
          <p:cNvSpPr/>
          <p:nvPr/>
        </p:nvSpPr>
        <p:spPr>
          <a:xfrm rot="2480573">
            <a:off x="14889084" y="-1597731"/>
            <a:ext cx="4740431" cy="3986752"/>
          </a:xfrm>
          <a:custGeom>
            <a:avLst/>
            <a:gdLst/>
            <a:ahLst/>
            <a:cxnLst/>
            <a:rect l="l" t="t" r="r" b="b"/>
            <a:pathLst>
              <a:path w="4740431" h="3986752">
                <a:moveTo>
                  <a:pt x="0" y="0"/>
                </a:moveTo>
                <a:lnTo>
                  <a:pt x="4740432" y="0"/>
                </a:lnTo>
                <a:lnTo>
                  <a:pt x="4740432" y="3986752"/>
                </a:lnTo>
                <a:lnTo>
                  <a:pt x="0" y="39867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5" name="Freeform 5"/>
          <p:cNvSpPr/>
          <p:nvPr/>
        </p:nvSpPr>
        <p:spPr>
          <a:xfrm rot="8628726">
            <a:off x="15176679" y="7889772"/>
            <a:ext cx="4740431" cy="3986752"/>
          </a:xfrm>
          <a:custGeom>
            <a:avLst/>
            <a:gdLst/>
            <a:ahLst/>
            <a:cxnLst/>
            <a:rect l="l" t="t" r="r" b="b"/>
            <a:pathLst>
              <a:path w="4740431" h="3986752">
                <a:moveTo>
                  <a:pt x="0" y="0"/>
                </a:moveTo>
                <a:lnTo>
                  <a:pt x="4740431" y="0"/>
                </a:lnTo>
                <a:lnTo>
                  <a:pt x="4740431" y="3986752"/>
                </a:lnTo>
                <a:lnTo>
                  <a:pt x="0" y="39867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6" name="Freeform 6"/>
          <p:cNvSpPr/>
          <p:nvPr/>
        </p:nvSpPr>
        <p:spPr>
          <a:xfrm>
            <a:off x="5331432" y="6740897"/>
            <a:ext cx="7625136" cy="1289341"/>
          </a:xfrm>
          <a:custGeom>
            <a:avLst/>
            <a:gdLst/>
            <a:ahLst/>
            <a:cxnLst/>
            <a:rect l="l" t="t" r="r" b="b"/>
            <a:pathLst>
              <a:path w="7625136" h="1289341">
                <a:moveTo>
                  <a:pt x="0" y="0"/>
                </a:moveTo>
                <a:lnTo>
                  <a:pt x="7625136" y="0"/>
                </a:lnTo>
                <a:lnTo>
                  <a:pt x="7625136" y="1289342"/>
                </a:lnTo>
                <a:lnTo>
                  <a:pt x="0" y="12893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7" name="Freeform 7"/>
          <p:cNvSpPr/>
          <p:nvPr/>
        </p:nvSpPr>
        <p:spPr>
          <a:xfrm>
            <a:off x="191688" y="2722621"/>
            <a:ext cx="1396484" cy="1164581"/>
          </a:xfrm>
          <a:custGeom>
            <a:avLst/>
            <a:gdLst/>
            <a:ahLst/>
            <a:cxnLst/>
            <a:rect l="l" t="t" r="r" b="b"/>
            <a:pathLst>
              <a:path w="1396484" h="1164581">
                <a:moveTo>
                  <a:pt x="0" y="0"/>
                </a:moveTo>
                <a:lnTo>
                  <a:pt x="1396484" y="0"/>
                </a:lnTo>
                <a:lnTo>
                  <a:pt x="1396484" y="1164580"/>
                </a:lnTo>
                <a:lnTo>
                  <a:pt x="0" y="1164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4543" t="-104191"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8" name="Freeform 8"/>
          <p:cNvSpPr/>
          <p:nvPr/>
        </p:nvSpPr>
        <p:spPr>
          <a:xfrm>
            <a:off x="1482793" y="6724225"/>
            <a:ext cx="1396484" cy="1164581"/>
          </a:xfrm>
          <a:custGeom>
            <a:avLst/>
            <a:gdLst/>
            <a:ahLst/>
            <a:cxnLst/>
            <a:rect l="l" t="t" r="r" b="b"/>
            <a:pathLst>
              <a:path w="1396484" h="1164581">
                <a:moveTo>
                  <a:pt x="0" y="0"/>
                </a:moveTo>
                <a:lnTo>
                  <a:pt x="1396483" y="0"/>
                </a:lnTo>
                <a:lnTo>
                  <a:pt x="1396483" y="1164581"/>
                </a:lnTo>
                <a:lnTo>
                  <a:pt x="0" y="1164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4543" t="-104191"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9" name="Freeform 9"/>
          <p:cNvSpPr/>
          <p:nvPr/>
        </p:nvSpPr>
        <p:spPr>
          <a:xfrm>
            <a:off x="16705532" y="2386085"/>
            <a:ext cx="1396484" cy="1164581"/>
          </a:xfrm>
          <a:custGeom>
            <a:avLst/>
            <a:gdLst/>
            <a:ahLst/>
            <a:cxnLst/>
            <a:rect l="l" t="t" r="r" b="b"/>
            <a:pathLst>
              <a:path w="1396484" h="1164581">
                <a:moveTo>
                  <a:pt x="0" y="0"/>
                </a:moveTo>
                <a:lnTo>
                  <a:pt x="1396483" y="0"/>
                </a:lnTo>
                <a:lnTo>
                  <a:pt x="1396483" y="1164581"/>
                </a:lnTo>
                <a:lnTo>
                  <a:pt x="0" y="1164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4543" t="-104191"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0" name="Freeform 10"/>
          <p:cNvSpPr/>
          <p:nvPr/>
        </p:nvSpPr>
        <p:spPr>
          <a:xfrm>
            <a:off x="15862816" y="6686087"/>
            <a:ext cx="1396484" cy="1164581"/>
          </a:xfrm>
          <a:custGeom>
            <a:avLst/>
            <a:gdLst/>
            <a:ahLst/>
            <a:cxnLst/>
            <a:rect l="l" t="t" r="r" b="b"/>
            <a:pathLst>
              <a:path w="1396484" h="1164581">
                <a:moveTo>
                  <a:pt x="0" y="0"/>
                </a:moveTo>
                <a:lnTo>
                  <a:pt x="1396484" y="0"/>
                </a:lnTo>
                <a:lnTo>
                  <a:pt x="1396484" y="1164580"/>
                </a:lnTo>
                <a:lnTo>
                  <a:pt x="0" y="1164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4543" t="-104191"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11" name="Group 11"/>
          <p:cNvGrpSpPr/>
          <p:nvPr/>
        </p:nvGrpSpPr>
        <p:grpSpPr>
          <a:xfrm>
            <a:off x="6203890" y="3546103"/>
            <a:ext cx="5885924" cy="1929917"/>
            <a:chOff x="0" y="0"/>
            <a:chExt cx="1063921" cy="34884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3921" cy="348846"/>
            </a:xfrm>
            <a:custGeom>
              <a:avLst/>
              <a:gdLst/>
              <a:ahLst/>
              <a:cxnLst/>
              <a:rect l="l" t="t" r="r" b="b"/>
              <a:pathLst>
                <a:path w="1063921" h="348846">
                  <a:moveTo>
                    <a:pt x="51380" y="0"/>
                  </a:moveTo>
                  <a:lnTo>
                    <a:pt x="1012541" y="0"/>
                  </a:lnTo>
                  <a:cubicBezTo>
                    <a:pt x="1026168" y="0"/>
                    <a:pt x="1039237" y="5413"/>
                    <a:pt x="1048872" y="15049"/>
                  </a:cubicBezTo>
                  <a:cubicBezTo>
                    <a:pt x="1058508" y="24684"/>
                    <a:pt x="1063921" y="37753"/>
                    <a:pt x="1063921" y="51380"/>
                  </a:cubicBezTo>
                  <a:lnTo>
                    <a:pt x="1063921" y="297466"/>
                  </a:lnTo>
                  <a:cubicBezTo>
                    <a:pt x="1063921" y="325842"/>
                    <a:pt x="1040917" y="348846"/>
                    <a:pt x="1012541" y="348846"/>
                  </a:cubicBezTo>
                  <a:lnTo>
                    <a:pt x="51380" y="348846"/>
                  </a:lnTo>
                  <a:cubicBezTo>
                    <a:pt x="37753" y="348846"/>
                    <a:pt x="24684" y="343432"/>
                    <a:pt x="15049" y="333797"/>
                  </a:cubicBezTo>
                  <a:cubicBezTo>
                    <a:pt x="5413" y="324161"/>
                    <a:pt x="0" y="311093"/>
                    <a:pt x="0" y="297466"/>
                  </a:cubicBezTo>
                  <a:lnTo>
                    <a:pt x="0" y="51380"/>
                  </a:lnTo>
                  <a:cubicBezTo>
                    <a:pt x="0" y="37753"/>
                    <a:pt x="5413" y="24684"/>
                    <a:pt x="15049" y="15049"/>
                  </a:cubicBezTo>
                  <a:cubicBezTo>
                    <a:pt x="24684" y="5413"/>
                    <a:pt x="37753" y="0"/>
                    <a:pt x="51380" y="0"/>
                  </a:cubicBezTo>
                  <a:close/>
                </a:path>
              </a:pathLst>
            </a:custGeom>
            <a:solidFill>
              <a:srgbClr val="DDB8FF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1063921" cy="4250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76845" y="7919905"/>
            <a:ext cx="1702185" cy="1086076"/>
            <a:chOff x="0" y="0"/>
            <a:chExt cx="656847" cy="4191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56847" cy="419100"/>
            </a:xfrm>
            <a:custGeom>
              <a:avLst/>
              <a:gdLst/>
              <a:ahLst/>
              <a:cxnLst/>
              <a:rect l="l" t="t" r="r" b="b"/>
              <a:pathLst>
                <a:path w="656847" h="419100">
                  <a:moveTo>
                    <a:pt x="35533" y="0"/>
                  </a:moveTo>
                  <a:lnTo>
                    <a:pt x="621314" y="0"/>
                  </a:lnTo>
                  <a:cubicBezTo>
                    <a:pt x="640938" y="0"/>
                    <a:pt x="656847" y="15909"/>
                    <a:pt x="656847" y="35533"/>
                  </a:cubicBezTo>
                  <a:lnTo>
                    <a:pt x="656847" y="383567"/>
                  </a:lnTo>
                  <a:cubicBezTo>
                    <a:pt x="656847" y="403191"/>
                    <a:pt x="640938" y="419100"/>
                    <a:pt x="621314" y="419100"/>
                  </a:cubicBezTo>
                  <a:lnTo>
                    <a:pt x="35533" y="419100"/>
                  </a:lnTo>
                  <a:cubicBezTo>
                    <a:pt x="15909" y="419100"/>
                    <a:pt x="0" y="403191"/>
                    <a:pt x="0" y="383567"/>
                  </a:cubicBezTo>
                  <a:lnTo>
                    <a:pt x="0" y="35533"/>
                  </a:lnTo>
                  <a:cubicBezTo>
                    <a:pt x="0" y="15909"/>
                    <a:pt x="15909" y="0"/>
                    <a:pt x="35533" y="0"/>
                  </a:cubicBezTo>
                  <a:close/>
                </a:path>
              </a:pathLst>
            </a:custGeom>
            <a:solidFill>
              <a:srgbClr val="DDB8FF"/>
            </a:solidFill>
          </p:spPr>
          <p:txBody>
            <a:bodyPr/>
            <a:lstStyle/>
            <a:p>
              <a:endParaRPr lang="es-419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656847" cy="495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395338" y="3623763"/>
            <a:ext cx="7497324" cy="1804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19"/>
              </a:lnSpc>
            </a:pPr>
            <a:r>
              <a:rPr lang="en-US" sz="9942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SUMOTRÓN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879276" y="7954039"/>
            <a:ext cx="7497324" cy="1082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XAVIER PORRE </a:t>
            </a:r>
          </a:p>
          <a:p>
            <a:pPr algn="ctr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VICENTE ÁBALOS</a:t>
            </a:r>
          </a:p>
          <a:p>
            <a:pPr algn="ctr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MATÍAS FERES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1925" y="4411817"/>
            <a:ext cx="7849925" cy="5475585"/>
            <a:chOff x="0" y="0"/>
            <a:chExt cx="2067470" cy="14421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67470" cy="1442130"/>
            </a:xfrm>
            <a:custGeom>
              <a:avLst/>
              <a:gdLst/>
              <a:ahLst/>
              <a:cxnLst/>
              <a:rect l="l" t="t" r="r" b="b"/>
              <a:pathLst>
                <a:path w="2067470" h="1442130">
                  <a:moveTo>
                    <a:pt x="50298" y="0"/>
                  </a:moveTo>
                  <a:lnTo>
                    <a:pt x="2017172" y="0"/>
                  </a:lnTo>
                  <a:cubicBezTo>
                    <a:pt x="2044951" y="0"/>
                    <a:pt x="2067470" y="22519"/>
                    <a:pt x="2067470" y="50298"/>
                  </a:cubicBezTo>
                  <a:lnTo>
                    <a:pt x="2067470" y="1391831"/>
                  </a:lnTo>
                  <a:cubicBezTo>
                    <a:pt x="2067470" y="1419610"/>
                    <a:pt x="2044951" y="1442130"/>
                    <a:pt x="2017172" y="1442130"/>
                  </a:cubicBezTo>
                  <a:lnTo>
                    <a:pt x="50298" y="1442130"/>
                  </a:lnTo>
                  <a:cubicBezTo>
                    <a:pt x="22519" y="1442130"/>
                    <a:pt x="0" y="1419610"/>
                    <a:pt x="0" y="1391831"/>
                  </a:cubicBezTo>
                  <a:lnTo>
                    <a:pt x="0" y="50298"/>
                  </a:lnTo>
                  <a:cubicBezTo>
                    <a:pt x="0" y="22519"/>
                    <a:pt x="22519" y="0"/>
                    <a:pt x="50298" y="0"/>
                  </a:cubicBezTo>
                  <a:close/>
                </a:path>
              </a:pathLst>
            </a:custGeom>
            <a:solidFill>
              <a:srgbClr val="C9740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2067470" cy="1518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86675" y="4638862"/>
            <a:ext cx="7579616" cy="5021495"/>
          </a:xfrm>
          <a:custGeom>
            <a:avLst/>
            <a:gdLst/>
            <a:ahLst/>
            <a:cxnLst/>
            <a:rect l="l" t="t" r="r" b="b"/>
            <a:pathLst>
              <a:path w="7579616" h="5021495">
                <a:moveTo>
                  <a:pt x="0" y="0"/>
                </a:moveTo>
                <a:lnTo>
                  <a:pt x="7579616" y="0"/>
                </a:lnTo>
                <a:lnTo>
                  <a:pt x="7579616" y="5021495"/>
                </a:lnTo>
                <a:lnTo>
                  <a:pt x="0" y="50214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6" name="Freeform 6"/>
          <p:cNvSpPr/>
          <p:nvPr/>
        </p:nvSpPr>
        <p:spPr>
          <a:xfrm>
            <a:off x="9144000" y="2291497"/>
            <a:ext cx="6182299" cy="7359879"/>
          </a:xfrm>
          <a:custGeom>
            <a:avLst/>
            <a:gdLst/>
            <a:ahLst/>
            <a:cxnLst/>
            <a:rect l="l" t="t" r="r" b="b"/>
            <a:pathLst>
              <a:path w="6182299" h="7359879">
                <a:moveTo>
                  <a:pt x="0" y="0"/>
                </a:moveTo>
                <a:lnTo>
                  <a:pt x="6182299" y="0"/>
                </a:lnTo>
                <a:lnTo>
                  <a:pt x="6182299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7" name="Group 7"/>
          <p:cNvGrpSpPr/>
          <p:nvPr/>
        </p:nvGrpSpPr>
        <p:grpSpPr>
          <a:xfrm>
            <a:off x="11067310" y="296023"/>
            <a:ext cx="4731987" cy="1444780"/>
            <a:chOff x="0" y="0"/>
            <a:chExt cx="973660" cy="2972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73660" cy="297280"/>
            </a:xfrm>
            <a:custGeom>
              <a:avLst/>
              <a:gdLst/>
              <a:ahLst/>
              <a:cxnLst/>
              <a:rect l="l" t="t" r="r" b="b"/>
              <a:pathLst>
                <a:path w="973660" h="297280">
                  <a:moveTo>
                    <a:pt x="15338" y="0"/>
                  </a:moveTo>
                  <a:lnTo>
                    <a:pt x="958322" y="0"/>
                  </a:lnTo>
                  <a:cubicBezTo>
                    <a:pt x="962390" y="0"/>
                    <a:pt x="966291" y="1616"/>
                    <a:pt x="969167" y="4492"/>
                  </a:cubicBezTo>
                  <a:cubicBezTo>
                    <a:pt x="972044" y="7369"/>
                    <a:pt x="973660" y="11270"/>
                    <a:pt x="973660" y="15338"/>
                  </a:cubicBezTo>
                  <a:lnTo>
                    <a:pt x="973660" y="281942"/>
                  </a:lnTo>
                  <a:cubicBezTo>
                    <a:pt x="973660" y="290413"/>
                    <a:pt x="966793" y="297280"/>
                    <a:pt x="958322" y="297280"/>
                  </a:cubicBezTo>
                  <a:lnTo>
                    <a:pt x="15338" y="297280"/>
                  </a:lnTo>
                  <a:cubicBezTo>
                    <a:pt x="6867" y="297280"/>
                    <a:pt x="0" y="290413"/>
                    <a:pt x="0" y="281942"/>
                  </a:cubicBezTo>
                  <a:lnTo>
                    <a:pt x="0" y="15338"/>
                  </a:lnTo>
                  <a:cubicBezTo>
                    <a:pt x="0" y="6867"/>
                    <a:pt x="6867" y="0"/>
                    <a:pt x="15338" y="0"/>
                  </a:cubicBezTo>
                  <a:close/>
                </a:path>
              </a:pathLst>
            </a:custGeom>
            <a:solidFill>
              <a:srgbClr val="DDB8FF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973660" cy="3734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079331" y="2103715"/>
            <a:ext cx="3677769" cy="4038600"/>
            <a:chOff x="0" y="0"/>
            <a:chExt cx="656808" cy="61206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56808" cy="612068"/>
            </a:xfrm>
            <a:custGeom>
              <a:avLst/>
              <a:gdLst/>
              <a:ahLst/>
              <a:cxnLst/>
              <a:rect l="l" t="t" r="r" b="b"/>
              <a:pathLst>
                <a:path w="656808" h="612068">
                  <a:moveTo>
                    <a:pt x="23024" y="0"/>
                  </a:moveTo>
                  <a:lnTo>
                    <a:pt x="633784" y="0"/>
                  </a:lnTo>
                  <a:cubicBezTo>
                    <a:pt x="639890" y="0"/>
                    <a:pt x="645746" y="2426"/>
                    <a:pt x="650064" y="6744"/>
                  </a:cubicBezTo>
                  <a:cubicBezTo>
                    <a:pt x="654382" y="11061"/>
                    <a:pt x="656808" y="16918"/>
                    <a:pt x="656808" y="23024"/>
                  </a:cubicBezTo>
                  <a:lnTo>
                    <a:pt x="656808" y="589044"/>
                  </a:lnTo>
                  <a:cubicBezTo>
                    <a:pt x="656808" y="595151"/>
                    <a:pt x="654382" y="601007"/>
                    <a:pt x="650064" y="605325"/>
                  </a:cubicBezTo>
                  <a:cubicBezTo>
                    <a:pt x="645746" y="609643"/>
                    <a:pt x="639890" y="612068"/>
                    <a:pt x="633784" y="612068"/>
                  </a:cubicBezTo>
                  <a:lnTo>
                    <a:pt x="23024" y="612068"/>
                  </a:lnTo>
                  <a:cubicBezTo>
                    <a:pt x="16918" y="612068"/>
                    <a:pt x="11061" y="609643"/>
                    <a:pt x="6744" y="605325"/>
                  </a:cubicBezTo>
                  <a:cubicBezTo>
                    <a:pt x="2426" y="601007"/>
                    <a:pt x="0" y="595151"/>
                    <a:pt x="0" y="589044"/>
                  </a:cubicBezTo>
                  <a:lnTo>
                    <a:pt x="0" y="23024"/>
                  </a:lnTo>
                  <a:cubicBezTo>
                    <a:pt x="0" y="16918"/>
                    <a:pt x="2426" y="11061"/>
                    <a:pt x="6744" y="6744"/>
                  </a:cubicBezTo>
                  <a:cubicBezTo>
                    <a:pt x="11061" y="2426"/>
                    <a:pt x="16918" y="0"/>
                    <a:pt x="23024" y="0"/>
                  </a:cubicBezTo>
                  <a:close/>
                </a:path>
              </a:pathLst>
            </a:custGeom>
            <a:solidFill>
              <a:srgbClr val="DDB8FF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76200"/>
              <a:ext cx="656808" cy="6882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31925" y="1084893"/>
            <a:ext cx="7849925" cy="3231674"/>
            <a:chOff x="0" y="0"/>
            <a:chExt cx="1615211" cy="66495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15211" cy="664954"/>
            </a:xfrm>
            <a:custGeom>
              <a:avLst/>
              <a:gdLst/>
              <a:ahLst/>
              <a:cxnLst/>
              <a:rect l="l" t="t" r="r" b="b"/>
              <a:pathLst>
                <a:path w="1615211" h="664954">
                  <a:moveTo>
                    <a:pt x="11558" y="0"/>
                  </a:moveTo>
                  <a:lnTo>
                    <a:pt x="1603653" y="0"/>
                  </a:lnTo>
                  <a:cubicBezTo>
                    <a:pt x="1606719" y="0"/>
                    <a:pt x="1609658" y="1218"/>
                    <a:pt x="1611826" y="3385"/>
                  </a:cubicBezTo>
                  <a:cubicBezTo>
                    <a:pt x="1613993" y="5553"/>
                    <a:pt x="1615211" y="8492"/>
                    <a:pt x="1615211" y="11558"/>
                  </a:cubicBezTo>
                  <a:lnTo>
                    <a:pt x="1615211" y="653396"/>
                  </a:lnTo>
                  <a:cubicBezTo>
                    <a:pt x="1615211" y="656461"/>
                    <a:pt x="1613993" y="659401"/>
                    <a:pt x="1611826" y="661568"/>
                  </a:cubicBezTo>
                  <a:cubicBezTo>
                    <a:pt x="1609658" y="663736"/>
                    <a:pt x="1606719" y="664954"/>
                    <a:pt x="1603653" y="664954"/>
                  </a:cubicBezTo>
                  <a:lnTo>
                    <a:pt x="11558" y="664954"/>
                  </a:lnTo>
                  <a:cubicBezTo>
                    <a:pt x="5174" y="664954"/>
                    <a:pt x="0" y="659779"/>
                    <a:pt x="0" y="653396"/>
                  </a:cubicBezTo>
                  <a:lnTo>
                    <a:pt x="0" y="11558"/>
                  </a:lnTo>
                  <a:cubicBezTo>
                    <a:pt x="0" y="5174"/>
                    <a:pt x="5174" y="0"/>
                    <a:pt x="11558" y="0"/>
                  </a:cubicBezTo>
                  <a:close/>
                </a:path>
              </a:pathLst>
            </a:custGeom>
            <a:solidFill>
              <a:srgbClr val="FFB450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76200"/>
              <a:ext cx="1615211" cy="7411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075214" y="252658"/>
            <a:ext cx="5544562" cy="761635"/>
            <a:chOff x="0" y="0"/>
            <a:chExt cx="1140856" cy="15671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40856" cy="156715"/>
            </a:xfrm>
            <a:custGeom>
              <a:avLst/>
              <a:gdLst/>
              <a:ahLst/>
              <a:cxnLst/>
              <a:rect l="l" t="t" r="r" b="b"/>
              <a:pathLst>
                <a:path w="1140856" h="156715">
                  <a:moveTo>
                    <a:pt x="21817" y="0"/>
                  </a:moveTo>
                  <a:lnTo>
                    <a:pt x="1119039" y="0"/>
                  </a:lnTo>
                  <a:cubicBezTo>
                    <a:pt x="1124825" y="0"/>
                    <a:pt x="1130375" y="2299"/>
                    <a:pt x="1134466" y="6390"/>
                  </a:cubicBezTo>
                  <a:cubicBezTo>
                    <a:pt x="1138558" y="10482"/>
                    <a:pt x="1140856" y="16031"/>
                    <a:pt x="1140856" y="21817"/>
                  </a:cubicBezTo>
                  <a:lnTo>
                    <a:pt x="1140856" y="134898"/>
                  </a:lnTo>
                  <a:cubicBezTo>
                    <a:pt x="1140856" y="146947"/>
                    <a:pt x="1131088" y="156715"/>
                    <a:pt x="1119039" y="156715"/>
                  </a:cubicBezTo>
                  <a:lnTo>
                    <a:pt x="21817" y="156715"/>
                  </a:lnTo>
                  <a:cubicBezTo>
                    <a:pt x="9768" y="156715"/>
                    <a:pt x="0" y="146947"/>
                    <a:pt x="0" y="134898"/>
                  </a:cubicBezTo>
                  <a:lnTo>
                    <a:pt x="0" y="21817"/>
                  </a:lnTo>
                  <a:cubicBezTo>
                    <a:pt x="0" y="9768"/>
                    <a:pt x="9768" y="0"/>
                    <a:pt x="21817" y="0"/>
                  </a:cubicBezTo>
                  <a:close/>
                </a:path>
              </a:pathLst>
            </a:custGeom>
            <a:solidFill>
              <a:srgbClr val="FFB450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76200"/>
              <a:ext cx="1140856" cy="232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28700" y="1110337"/>
            <a:ext cx="7637591" cy="3135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SISTEMA ESTÁ COMPUESTO POR UNA CÁMARA ESP32-CAM QUE INTERPRETA, MEDIANTE UN MODELO TFLITE, LA PRESENCIA Y DISTANCIA DE BORDES E IDENTIFICADORES, COMUNICANDO SUS RESULTADOS A UN MICROCONTROLADOR ESP32-S3 SIGUIENDO UN PROTOCOLO UART. EL ESP32-S3 RECIBE ESA INFORMACIÓN Y ENVÍA INSTRUCCIONES APROPIADAS A DOS MOTORES A TRAVÉS DE UN PUENTE H. EL ESP32-S3 TAMBIÉN PUEDE RECIBIR INSTRUCCIONES MANUALES DESDE UNA APLICACIÓN WEB INTERNA Y DESDE UN MICRÓFONO MAX9814 CONECTADO.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137196" y="2224822"/>
            <a:ext cx="3562041" cy="344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8"/>
              </a:lnSpc>
            </a:pPr>
            <a:r>
              <a:rPr lang="en-US" sz="2177" dirty="0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LA ESTRATEGIA DE COMBATE CONSISTE EN EMPEZAR EN MODO MANUAL PARA REVISAR QUE NO HAYA PROBLEMAS MECÁNICOS ANTES DE PASAR A LOS MODOS AUTOMÁTICOS, DIVIDIDOS EN FIND (BUSCAR Y DESTRUIR), PATROL (PATRULLAR EL BORDE) Y RETREAT (ESCAPAR DE UNA AMENAZA).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851841" y="282828"/>
            <a:ext cx="5197751" cy="1377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55"/>
              </a:lnSpc>
            </a:pPr>
            <a:r>
              <a:rPr lang="en-US" sz="3825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DIAGRAMA DE FLUJO</a:t>
            </a:r>
          </a:p>
          <a:p>
            <a:pPr algn="ctr">
              <a:lnSpc>
                <a:spcPts val="5355"/>
              </a:lnSpc>
            </a:pPr>
            <a:r>
              <a:rPr lang="en-US" sz="3825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ESTRATEGIA DE COMBATE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248620" y="294278"/>
            <a:ext cx="5197751" cy="697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55"/>
              </a:lnSpc>
            </a:pPr>
            <a:r>
              <a:rPr lang="en-US" sz="3825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ARQUITECTURA DEL SISTEMA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4000">
            <a:off x="11099257" y="1995889"/>
            <a:ext cx="5953533" cy="7331941"/>
          </a:xfrm>
          <a:custGeom>
            <a:avLst/>
            <a:gdLst/>
            <a:ahLst/>
            <a:cxnLst/>
            <a:rect l="l" t="t" r="r" b="b"/>
            <a:pathLst>
              <a:path w="5953533" h="7331941">
                <a:moveTo>
                  <a:pt x="175738" y="0"/>
                </a:moveTo>
                <a:lnTo>
                  <a:pt x="5953533" y="141206"/>
                </a:lnTo>
                <a:lnTo>
                  <a:pt x="5777796" y="7331941"/>
                </a:lnTo>
                <a:lnTo>
                  <a:pt x="0" y="7190734"/>
                </a:lnTo>
                <a:lnTo>
                  <a:pt x="175738" y="0"/>
                </a:lnTo>
                <a:close/>
              </a:path>
            </a:pathLst>
          </a:custGeom>
          <a:blipFill>
            <a:blip r:embed="rId2"/>
            <a:stretch>
              <a:fillRect l="-1392" t="-3996" r="-3103" b="-46923"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" name="Freeform 3"/>
          <p:cNvSpPr/>
          <p:nvPr/>
        </p:nvSpPr>
        <p:spPr>
          <a:xfrm rot="-3047293" flipH="1">
            <a:off x="13420580" y="141947"/>
            <a:ext cx="1310888" cy="2337546"/>
          </a:xfrm>
          <a:custGeom>
            <a:avLst/>
            <a:gdLst/>
            <a:ahLst/>
            <a:cxnLst/>
            <a:rect l="l" t="t" r="r" b="b"/>
            <a:pathLst>
              <a:path w="1310888" h="2337546">
                <a:moveTo>
                  <a:pt x="1310888" y="0"/>
                </a:moveTo>
                <a:lnTo>
                  <a:pt x="0" y="0"/>
                </a:lnTo>
                <a:lnTo>
                  <a:pt x="0" y="2337546"/>
                </a:lnTo>
                <a:lnTo>
                  <a:pt x="1310888" y="2337546"/>
                </a:lnTo>
                <a:lnTo>
                  <a:pt x="131088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4" name="Freeform 4"/>
          <p:cNvSpPr/>
          <p:nvPr/>
        </p:nvSpPr>
        <p:spPr>
          <a:xfrm>
            <a:off x="1028700" y="1980164"/>
            <a:ext cx="6522097" cy="7003235"/>
          </a:xfrm>
          <a:custGeom>
            <a:avLst/>
            <a:gdLst/>
            <a:ahLst/>
            <a:cxnLst/>
            <a:rect l="l" t="t" r="r" b="b"/>
            <a:pathLst>
              <a:path w="6522097" h="7003235">
                <a:moveTo>
                  <a:pt x="0" y="0"/>
                </a:moveTo>
                <a:lnTo>
                  <a:pt x="6522097" y="0"/>
                </a:lnTo>
                <a:lnTo>
                  <a:pt x="6522097" y="7003235"/>
                </a:lnTo>
                <a:lnTo>
                  <a:pt x="0" y="70032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0002" t="-12510" r="-81383" b="-165742"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5" name="Group 5"/>
          <p:cNvGrpSpPr/>
          <p:nvPr/>
        </p:nvGrpSpPr>
        <p:grpSpPr>
          <a:xfrm>
            <a:off x="9424345" y="484954"/>
            <a:ext cx="3547896" cy="1136916"/>
            <a:chOff x="0" y="0"/>
            <a:chExt cx="730020" cy="233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30020" cy="233933"/>
            </a:xfrm>
            <a:custGeom>
              <a:avLst/>
              <a:gdLst/>
              <a:ahLst/>
              <a:cxnLst/>
              <a:rect l="l" t="t" r="r" b="b"/>
              <a:pathLst>
                <a:path w="730020" h="233933">
                  <a:moveTo>
                    <a:pt x="42619" y="0"/>
                  </a:moveTo>
                  <a:lnTo>
                    <a:pt x="687400" y="0"/>
                  </a:lnTo>
                  <a:cubicBezTo>
                    <a:pt x="710938" y="0"/>
                    <a:pt x="730020" y="19081"/>
                    <a:pt x="730020" y="42619"/>
                  </a:cubicBezTo>
                  <a:lnTo>
                    <a:pt x="730020" y="191314"/>
                  </a:lnTo>
                  <a:cubicBezTo>
                    <a:pt x="730020" y="214852"/>
                    <a:pt x="710938" y="233933"/>
                    <a:pt x="687400" y="233933"/>
                  </a:cubicBezTo>
                  <a:lnTo>
                    <a:pt x="42619" y="233933"/>
                  </a:lnTo>
                  <a:cubicBezTo>
                    <a:pt x="19081" y="233933"/>
                    <a:pt x="0" y="214852"/>
                    <a:pt x="0" y="191314"/>
                  </a:cubicBezTo>
                  <a:lnTo>
                    <a:pt x="0" y="42619"/>
                  </a:lnTo>
                  <a:cubicBezTo>
                    <a:pt x="0" y="19081"/>
                    <a:pt x="19081" y="0"/>
                    <a:pt x="42619" y="0"/>
                  </a:cubicBezTo>
                  <a:close/>
                </a:path>
              </a:pathLst>
            </a:custGeom>
            <a:solidFill>
              <a:srgbClr val="DDB8FF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730020" cy="3101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261220" y="571598"/>
            <a:ext cx="4057055" cy="1352656"/>
            <a:chOff x="0" y="0"/>
            <a:chExt cx="834785" cy="1584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34785" cy="158405"/>
            </a:xfrm>
            <a:custGeom>
              <a:avLst/>
              <a:gdLst/>
              <a:ahLst/>
              <a:cxnLst/>
              <a:rect l="l" t="t" r="r" b="b"/>
              <a:pathLst>
                <a:path w="834785" h="158405">
                  <a:moveTo>
                    <a:pt x="20872" y="0"/>
                  </a:moveTo>
                  <a:lnTo>
                    <a:pt x="813913" y="0"/>
                  </a:lnTo>
                  <a:cubicBezTo>
                    <a:pt x="825441" y="0"/>
                    <a:pt x="834785" y="9345"/>
                    <a:pt x="834785" y="20872"/>
                  </a:cubicBezTo>
                  <a:lnTo>
                    <a:pt x="834785" y="137533"/>
                  </a:lnTo>
                  <a:cubicBezTo>
                    <a:pt x="834785" y="149060"/>
                    <a:pt x="825441" y="158405"/>
                    <a:pt x="813913" y="158405"/>
                  </a:cubicBezTo>
                  <a:lnTo>
                    <a:pt x="20872" y="158405"/>
                  </a:lnTo>
                  <a:cubicBezTo>
                    <a:pt x="9345" y="158405"/>
                    <a:pt x="0" y="149060"/>
                    <a:pt x="0" y="137533"/>
                  </a:cubicBezTo>
                  <a:lnTo>
                    <a:pt x="0" y="20872"/>
                  </a:lnTo>
                  <a:cubicBezTo>
                    <a:pt x="0" y="9345"/>
                    <a:pt x="9345" y="0"/>
                    <a:pt x="20872" y="0"/>
                  </a:cubicBezTo>
                  <a:close/>
                </a:path>
              </a:pathLst>
            </a:custGeom>
            <a:solidFill>
              <a:srgbClr val="DDB8FF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834785" cy="2346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320535" y="516970"/>
            <a:ext cx="3755516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SUMOTRÓN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411991" y="583645"/>
            <a:ext cx="3755516" cy="72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DIVISIÓN DE TAREAS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2686" y="1028700"/>
            <a:ext cx="4939171" cy="4589937"/>
          </a:xfrm>
          <a:custGeom>
            <a:avLst/>
            <a:gdLst/>
            <a:ahLst/>
            <a:cxnLst/>
            <a:rect l="l" t="t" r="r" b="b"/>
            <a:pathLst>
              <a:path w="4939171" h="4589937">
                <a:moveTo>
                  <a:pt x="0" y="0"/>
                </a:moveTo>
                <a:lnTo>
                  <a:pt x="4939171" y="0"/>
                </a:lnTo>
                <a:lnTo>
                  <a:pt x="4939171" y="4589937"/>
                </a:lnTo>
                <a:lnTo>
                  <a:pt x="0" y="45899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419"/>
          </a:p>
        </p:txBody>
      </p:sp>
      <p:grpSp>
        <p:nvGrpSpPr>
          <p:cNvPr id="3" name="Group 3"/>
          <p:cNvGrpSpPr/>
          <p:nvPr/>
        </p:nvGrpSpPr>
        <p:grpSpPr>
          <a:xfrm>
            <a:off x="5849445" y="7928442"/>
            <a:ext cx="1775556" cy="1775556"/>
            <a:chOff x="-197284" y="-197284"/>
            <a:chExt cx="2367408" cy="2367408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97284" y="-197284"/>
              <a:ext cx="2367408" cy="2367408"/>
            </a:xfrm>
            <a:prstGeom prst="rect">
              <a:avLst/>
            </a:prstGeom>
          </p:spPr>
        </p:pic>
        <p:sp>
          <p:nvSpPr>
            <p:cNvPr id="5" name="TextBox 5"/>
            <p:cNvSpPr txBox="1"/>
            <p:nvPr/>
          </p:nvSpPr>
          <p:spPr>
            <a:xfrm>
              <a:off x="1268368" y="508053"/>
              <a:ext cx="704472" cy="4783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Scripter"/>
                  <a:ea typeface="Scripter"/>
                  <a:cs typeface="Scripter"/>
                  <a:sym typeface="Scripter"/>
                </a:rPr>
                <a:t>TP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51241" y="1162156"/>
              <a:ext cx="363061" cy="42216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 dirty="0">
                  <a:solidFill>
                    <a:srgbClr val="000000"/>
                  </a:solidFill>
                  <a:latin typeface="Scripter"/>
                  <a:ea typeface="Scripter"/>
                  <a:cs typeface="Scripter"/>
                  <a:sym typeface="Scripter"/>
                </a:rPr>
                <a:t>TN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96961" y="105887"/>
              <a:ext cx="317341" cy="42216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 dirty="0">
                  <a:solidFill>
                    <a:srgbClr val="000000"/>
                  </a:solidFill>
                  <a:latin typeface="Scripter"/>
                  <a:ea typeface="Scripter"/>
                  <a:cs typeface="Scripter"/>
                  <a:sym typeface="Scripter"/>
                </a:rPr>
                <a:t>FP</a:t>
              </a:r>
            </a:p>
          </p:txBody>
        </p:sp>
      </p:grp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8734216" y="1219199"/>
          <a:ext cx="3439511" cy="4238881"/>
        </p:xfrm>
        <a:graphic>
          <a:graphicData uri="http://schemas.openxmlformats.org/drawingml/2006/table">
            <a:tbl>
              <a:tblPr/>
              <a:tblGrid>
                <a:gridCol w="1488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3229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Optimizador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99"/>
                        </a:lnSpc>
                        <a:defRPr/>
                      </a:pPr>
                      <a:r>
                        <a:rPr lang="en-US" sz="999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Adam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229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Ritmo de aprendizaje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99"/>
                        </a:lnSpc>
                        <a:defRPr/>
                      </a:pPr>
                      <a:r>
                        <a:rPr lang="en-US" sz="999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5e-4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422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Función de pérdida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99"/>
                        </a:lnSpc>
                        <a:defRPr/>
                      </a:pPr>
                      <a:r>
                        <a:rPr lang="en-US" sz="999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sparce categorical entropy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397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Tamaño Batches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r>
                        <a:rPr lang="en-US" sz="1499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16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397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Épocas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r>
                        <a:rPr lang="en-US" sz="1499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160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7978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Callbacks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/>
                    <a:lstStyle/>
                    <a:p>
                      <a:pPr marL="215899" lvl="1" indent="-107950" algn="l">
                        <a:lnSpc>
                          <a:spcPts val="13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999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EarlyStopping  </a:t>
                      </a:r>
                      <a:endParaRPr lang="en-US" sz="1100"/>
                    </a:p>
                    <a:p>
                      <a:pPr marL="215899" lvl="1" indent="-107950" algn="l">
                        <a:lnSpc>
                          <a:spcPts val="1399"/>
                        </a:lnSpc>
                        <a:buFont typeface="Arial"/>
                        <a:buChar char="•"/>
                      </a:pPr>
                      <a:r>
                        <a:rPr lang="en-US" sz="999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ModelCheckpoint  </a:t>
                      </a:r>
                    </a:p>
                    <a:p>
                      <a:pPr marL="215899" lvl="1" indent="-107950" algn="l">
                        <a:lnSpc>
                          <a:spcPts val="1399"/>
                        </a:lnSpc>
                        <a:buFont typeface="Arial"/>
                        <a:buChar char="•"/>
                      </a:pPr>
                      <a:r>
                        <a:rPr lang="en-US" sz="999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ReduceLROnPlateau</a:t>
                      </a:r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3229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Métrica de monitoreo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99"/>
                        </a:lnSpc>
                        <a:defRPr/>
                      </a:pPr>
                      <a:r>
                        <a:rPr lang="en-US" sz="999" b="1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Val_accuracy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9" name="Group 9"/>
          <p:cNvGrpSpPr/>
          <p:nvPr/>
        </p:nvGrpSpPr>
        <p:grpSpPr>
          <a:xfrm>
            <a:off x="12463096" y="2221365"/>
            <a:ext cx="5502757" cy="3424135"/>
            <a:chOff x="0" y="0"/>
            <a:chExt cx="1449286" cy="9018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49286" cy="901830"/>
            </a:xfrm>
            <a:custGeom>
              <a:avLst/>
              <a:gdLst/>
              <a:ahLst/>
              <a:cxnLst/>
              <a:rect l="l" t="t" r="r" b="b"/>
              <a:pathLst>
                <a:path w="1449286" h="901830">
                  <a:moveTo>
                    <a:pt x="71753" y="0"/>
                  </a:moveTo>
                  <a:lnTo>
                    <a:pt x="1377533" y="0"/>
                  </a:lnTo>
                  <a:cubicBezTo>
                    <a:pt x="1396563" y="0"/>
                    <a:pt x="1414814" y="7560"/>
                    <a:pt x="1428270" y="21016"/>
                  </a:cubicBezTo>
                  <a:cubicBezTo>
                    <a:pt x="1441726" y="34472"/>
                    <a:pt x="1449286" y="52723"/>
                    <a:pt x="1449286" y="71753"/>
                  </a:cubicBezTo>
                  <a:lnTo>
                    <a:pt x="1449286" y="830077"/>
                  </a:lnTo>
                  <a:cubicBezTo>
                    <a:pt x="1449286" y="849107"/>
                    <a:pt x="1441726" y="867358"/>
                    <a:pt x="1428270" y="880814"/>
                  </a:cubicBezTo>
                  <a:cubicBezTo>
                    <a:pt x="1414814" y="894270"/>
                    <a:pt x="1396563" y="901830"/>
                    <a:pt x="1377533" y="901830"/>
                  </a:cubicBezTo>
                  <a:lnTo>
                    <a:pt x="71753" y="901830"/>
                  </a:lnTo>
                  <a:cubicBezTo>
                    <a:pt x="32125" y="901830"/>
                    <a:pt x="0" y="869705"/>
                    <a:pt x="0" y="830077"/>
                  </a:cubicBezTo>
                  <a:lnTo>
                    <a:pt x="0" y="71753"/>
                  </a:lnTo>
                  <a:cubicBezTo>
                    <a:pt x="0" y="52723"/>
                    <a:pt x="7560" y="34472"/>
                    <a:pt x="21016" y="21016"/>
                  </a:cubicBezTo>
                  <a:cubicBezTo>
                    <a:pt x="34472" y="7560"/>
                    <a:pt x="52723" y="0"/>
                    <a:pt x="71753" y="0"/>
                  </a:cubicBezTo>
                  <a:close/>
                </a:path>
              </a:pathLst>
            </a:custGeom>
            <a:solidFill>
              <a:srgbClr val="84268C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1449286" cy="9780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263913" y="1122679"/>
            <a:ext cx="3384578" cy="4495957"/>
            <a:chOff x="0" y="0"/>
            <a:chExt cx="891412" cy="11841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91411" cy="1184120"/>
            </a:xfrm>
            <a:custGeom>
              <a:avLst/>
              <a:gdLst/>
              <a:ahLst/>
              <a:cxnLst/>
              <a:rect l="l" t="t" r="r" b="b"/>
              <a:pathLst>
                <a:path w="891411" h="1184120">
                  <a:moveTo>
                    <a:pt x="38886" y="0"/>
                  </a:moveTo>
                  <a:lnTo>
                    <a:pt x="852525" y="0"/>
                  </a:lnTo>
                  <a:cubicBezTo>
                    <a:pt x="874002" y="0"/>
                    <a:pt x="891411" y="17410"/>
                    <a:pt x="891411" y="38886"/>
                  </a:cubicBezTo>
                  <a:lnTo>
                    <a:pt x="891411" y="1145234"/>
                  </a:lnTo>
                  <a:cubicBezTo>
                    <a:pt x="891411" y="1155548"/>
                    <a:pt x="887315" y="1165438"/>
                    <a:pt x="880022" y="1172731"/>
                  </a:cubicBezTo>
                  <a:cubicBezTo>
                    <a:pt x="872729" y="1180024"/>
                    <a:pt x="862839" y="1184120"/>
                    <a:pt x="852525" y="1184120"/>
                  </a:cubicBezTo>
                  <a:lnTo>
                    <a:pt x="38886" y="1184120"/>
                  </a:lnTo>
                  <a:cubicBezTo>
                    <a:pt x="17410" y="1184120"/>
                    <a:pt x="0" y="1166711"/>
                    <a:pt x="0" y="1145234"/>
                  </a:cubicBezTo>
                  <a:lnTo>
                    <a:pt x="0" y="38886"/>
                  </a:lnTo>
                  <a:cubicBezTo>
                    <a:pt x="0" y="17410"/>
                    <a:pt x="17410" y="0"/>
                    <a:pt x="38886" y="0"/>
                  </a:cubicBezTo>
                  <a:close/>
                </a:path>
              </a:pathLst>
            </a:custGeom>
            <a:solidFill>
              <a:srgbClr val="FFCDCD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891412" cy="12603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2771335" y="2187481"/>
            <a:ext cx="4824978" cy="3559774"/>
          </a:xfrm>
          <a:custGeom>
            <a:avLst/>
            <a:gdLst/>
            <a:ahLst/>
            <a:cxnLst/>
            <a:rect l="l" t="t" r="r" b="b"/>
            <a:pathLst>
              <a:path w="4824978" h="3559774">
                <a:moveTo>
                  <a:pt x="0" y="0"/>
                </a:moveTo>
                <a:lnTo>
                  <a:pt x="4824978" y="0"/>
                </a:lnTo>
                <a:lnTo>
                  <a:pt x="4824978" y="3559774"/>
                </a:lnTo>
                <a:lnTo>
                  <a:pt x="0" y="35597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16" name="Group 16"/>
          <p:cNvGrpSpPr/>
          <p:nvPr/>
        </p:nvGrpSpPr>
        <p:grpSpPr>
          <a:xfrm>
            <a:off x="147724" y="5640377"/>
            <a:ext cx="5179034" cy="4017973"/>
            <a:chOff x="0" y="0"/>
            <a:chExt cx="635000" cy="49264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" cy="492643"/>
            </a:xfrm>
            <a:custGeom>
              <a:avLst/>
              <a:gdLst/>
              <a:ahLst/>
              <a:cxnLst/>
              <a:rect l="l" t="t" r="r" b="b"/>
              <a:pathLst>
                <a:path w="635000" h="492643">
                  <a:moveTo>
                    <a:pt x="29196" y="0"/>
                  </a:moveTo>
                  <a:lnTo>
                    <a:pt x="605804" y="0"/>
                  </a:lnTo>
                  <a:cubicBezTo>
                    <a:pt x="621928" y="0"/>
                    <a:pt x="635000" y="13072"/>
                    <a:pt x="635000" y="29196"/>
                  </a:cubicBezTo>
                  <a:lnTo>
                    <a:pt x="635000" y="463446"/>
                  </a:lnTo>
                  <a:cubicBezTo>
                    <a:pt x="635000" y="479571"/>
                    <a:pt x="621928" y="492643"/>
                    <a:pt x="605804" y="492643"/>
                  </a:cubicBezTo>
                  <a:lnTo>
                    <a:pt x="29196" y="492643"/>
                  </a:lnTo>
                  <a:cubicBezTo>
                    <a:pt x="13072" y="492643"/>
                    <a:pt x="0" y="479571"/>
                    <a:pt x="0" y="463446"/>
                  </a:cubicBezTo>
                  <a:lnTo>
                    <a:pt x="0" y="29196"/>
                  </a:lnTo>
                  <a:cubicBezTo>
                    <a:pt x="0" y="13072"/>
                    <a:pt x="13072" y="0"/>
                    <a:pt x="29196" y="0"/>
                  </a:cubicBezTo>
                  <a:close/>
                </a:path>
              </a:pathLst>
            </a:custGeom>
            <a:solidFill>
              <a:srgbClr val="F68FFF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76200"/>
              <a:ext cx="635000" cy="568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2349" y="9718653"/>
            <a:ext cx="4166275" cy="378449"/>
            <a:chOff x="0" y="0"/>
            <a:chExt cx="857258" cy="7787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57258" cy="77870"/>
            </a:xfrm>
            <a:custGeom>
              <a:avLst/>
              <a:gdLst/>
              <a:ahLst/>
              <a:cxnLst/>
              <a:rect l="l" t="t" r="r" b="b"/>
              <a:pathLst>
                <a:path w="857258" h="77870">
                  <a:moveTo>
                    <a:pt x="21776" y="0"/>
                  </a:moveTo>
                  <a:lnTo>
                    <a:pt x="835482" y="0"/>
                  </a:lnTo>
                  <a:cubicBezTo>
                    <a:pt x="847509" y="0"/>
                    <a:pt x="857258" y="9750"/>
                    <a:pt x="857258" y="21776"/>
                  </a:cubicBezTo>
                  <a:lnTo>
                    <a:pt x="857258" y="56094"/>
                  </a:lnTo>
                  <a:cubicBezTo>
                    <a:pt x="857258" y="68121"/>
                    <a:pt x="847509" y="77870"/>
                    <a:pt x="835482" y="77870"/>
                  </a:cubicBezTo>
                  <a:lnTo>
                    <a:pt x="21776" y="77870"/>
                  </a:lnTo>
                  <a:cubicBezTo>
                    <a:pt x="9750" y="77870"/>
                    <a:pt x="0" y="68121"/>
                    <a:pt x="0" y="56094"/>
                  </a:cubicBezTo>
                  <a:lnTo>
                    <a:pt x="0" y="21776"/>
                  </a:lnTo>
                  <a:cubicBezTo>
                    <a:pt x="0" y="9750"/>
                    <a:pt x="9750" y="0"/>
                    <a:pt x="21776" y="0"/>
                  </a:cubicBezTo>
                  <a:close/>
                </a:path>
              </a:pathLst>
            </a:custGeom>
            <a:solidFill>
              <a:srgbClr val="F68FFF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76200"/>
              <a:ext cx="857258" cy="154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86962" y="333896"/>
            <a:ext cx="4712298" cy="589508"/>
            <a:chOff x="0" y="0"/>
            <a:chExt cx="969609" cy="12129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69609" cy="121298"/>
            </a:xfrm>
            <a:custGeom>
              <a:avLst/>
              <a:gdLst/>
              <a:ahLst/>
              <a:cxnLst/>
              <a:rect l="l" t="t" r="r" b="b"/>
              <a:pathLst>
                <a:path w="969609" h="121298">
                  <a:moveTo>
                    <a:pt x="17969" y="0"/>
                  </a:moveTo>
                  <a:lnTo>
                    <a:pt x="951639" y="0"/>
                  </a:lnTo>
                  <a:cubicBezTo>
                    <a:pt x="961563" y="0"/>
                    <a:pt x="969609" y="8045"/>
                    <a:pt x="969609" y="17969"/>
                  </a:cubicBezTo>
                  <a:lnTo>
                    <a:pt x="969609" y="103329"/>
                  </a:lnTo>
                  <a:cubicBezTo>
                    <a:pt x="969609" y="113253"/>
                    <a:pt x="961563" y="121298"/>
                    <a:pt x="951639" y="121298"/>
                  </a:cubicBezTo>
                  <a:lnTo>
                    <a:pt x="17969" y="121298"/>
                  </a:lnTo>
                  <a:cubicBezTo>
                    <a:pt x="8045" y="121298"/>
                    <a:pt x="0" y="113253"/>
                    <a:pt x="0" y="103329"/>
                  </a:cubicBezTo>
                  <a:lnTo>
                    <a:pt x="0" y="17969"/>
                  </a:lnTo>
                  <a:cubicBezTo>
                    <a:pt x="0" y="8045"/>
                    <a:pt x="8045" y="0"/>
                    <a:pt x="17969" y="0"/>
                  </a:cubicBezTo>
                  <a:close/>
                </a:path>
              </a:pathLst>
            </a:custGeom>
            <a:solidFill>
              <a:srgbClr val="F68FFF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76200"/>
              <a:ext cx="969609" cy="197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74784" y="329536"/>
            <a:ext cx="4973439" cy="625118"/>
            <a:chOff x="0" y="0"/>
            <a:chExt cx="1023341" cy="12862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23341" cy="128625"/>
            </a:xfrm>
            <a:custGeom>
              <a:avLst/>
              <a:gdLst/>
              <a:ahLst/>
              <a:cxnLst/>
              <a:rect l="l" t="t" r="r" b="b"/>
              <a:pathLst>
                <a:path w="1023341" h="128625">
                  <a:moveTo>
                    <a:pt x="17026" y="0"/>
                  </a:moveTo>
                  <a:lnTo>
                    <a:pt x="1006315" y="0"/>
                  </a:lnTo>
                  <a:cubicBezTo>
                    <a:pt x="1010831" y="0"/>
                    <a:pt x="1015162" y="1794"/>
                    <a:pt x="1018355" y="4987"/>
                  </a:cubicBezTo>
                  <a:cubicBezTo>
                    <a:pt x="1021548" y="8180"/>
                    <a:pt x="1023341" y="12510"/>
                    <a:pt x="1023341" y="17026"/>
                  </a:cubicBezTo>
                  <a:lnTo>
                    <a:pt x="1023341" y="111599"/>
                  </a:lnTo>
                  <a:cubicBezTo>
                    <a:pt x="1023341" y="116115"/>
                    <a:pt x="1021548" y="120445"/>
                    <a:pt x="1018355" y="123638"/>
                  </a:cubicBezTo>
                  <a:cubicBezTo>
                    <a:pt x="1015162" y="126831"/>
                    <a:pt x="1010831" y="128625"/>
                    <a:pt x="1006315" y="128625"/>
                  </a:cubicBezTo>
                  <a:lnTo>
                    <a:pt x="17026" y="128625"/>
                  </a:lnTo>
                  <a:cubicBezTo>
                    <a:pt x="12510" y="128625"/>
                    <a:pt x="8180" y="126831"/>
                    <a:pt x="4987" y="123638"/>
                  </a:cubicBezTo>
                  <a:cubicBezTo>
                    <a:pt x="1794" y="120445"/>
                    <a:pt x="0" y="116115"/>
                    <a:pt x="0" y="111599"/>
                  </a:cubicBezTo>
                  <a:lnTo>
                    <a:pt x="0" y="17026"/>
                  </a:lnTo>
                  <a:cubicBezTo>
                    <a:pt x="0" y="12510"/>
                    <a:pt x="1794" y="8180"/>
                    <a:pt x="4987" y="4987"/>
                  </a:cubicBezTo>
                  <a:cubicBezTo>
                    <a:pt x="8180" y="1794"/>
                    <a:pt x="12510" y="0"/>
                    <a:pt x="17026" y="0"/>
                  </a:cubicBezTo>
                  <a:close/>
                </a:path>
              </a:pathLst>
            </a:custGeom>
            <a:solidFill>
              <a:srgbClr val="FFCDCD"/>
            </a:solidFill>
          </p:spPr>
          <p:txBody>
            <a:bodyPr/>
            <a:lstStyle/>
            <a:p>
              <a:endParaRPr lang="es-419" dirty="0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76200"/>
              <a:ext cx="1023341" cy="204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213928" y="626619"/>
            <a:ext cx="4135632" cy="595553"/>
            <a:chOff x="0" y="0"/>
            <a:chExt cx="850953" cy="12254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50953" cy="122542"/>
            </a:xfrm>
            <a:custGeom>
              <a:avLst/>
              <a:gdLst/>
              <a:ahLst/>
              <a:cxnLst/>
              <a:rect l="l" t="t" r="r" b="b"/>
              <a:pathLst>
                <a:path w="850953" h="122542">
                  <a:moveTo>
                    <a:pt x="20475" y="0"/>
                  </a:moveTo>
                  <a:lnTo>
                    <a:pt x="830478" y="0"/>
                  </a:lnTo>
                  <a:cubicBezTo>
                    <a:pt x="835908" y="0"/>
                    <a:pt x="841116" y="2157"/>
                    <a:pt x="844956" y="5997"/>
                  </a:cubicBezTo>
                  <a:cubicBezTo>
                    <a:pt x="848796" y="9837"/>
                    <a:pt x="850953" y="15045"/>
                    <a:pt x="850953" y="20475"/>
                  </a:cubicBezTo>
                  <a:lnTo>
                    <a:pt x="850953" y="102067"/>
                  </a:lnTo>
                  <a:cubicBezTo>
                    <a:pt x="850953" y="107497"/>
                    <a:pt x="848796" y="112705"/>
                    <a:pt x="844956" y="116545"/>
                  </a:cubicBezTo>
                  <a:cubicBezTo>
                    <a:pt x="841116" y="120385"/>
                    <a:pt x="835908" y="122542"/>
                    <a:pt x="830478" y="122542"/>
                  </a:cubicBezTo>
                  <a:lnTo>
                    <a:pt x="20475" y="122542"/>
                  </a:lnTo>
                  <a:cubicBezTo>
                    <a:pt x="15045" y="122542"/>
                    <a:pt x="9837" y="120385"/>
                    <a:pt x="5997" y="116545"/>
                  </a:cubicBezTo>
                  <a:cubicBezTo>
                    <a:pt x="2157" y="112705"/>
                    <a:pt x="0" y="107497"/>
                    <a:pt x="0" y="102067"/>
                  </a:cubicBezTo>
                  <a:lnTo>
                    <a:pt x="0" y="20475"/>
                  </a:lnTo>
                  <a:cubicBezTo>
                    <a:pt x="0" y="15045"/>
                    <a:pt x="2157" y="9837"/>
                    <a:pt x="5997" y="5997"/>
                  </a:cubicBezTo>
                  <a:cubicBezTo>
                    <a:pt x="9837" y="2157"/>
                    <a:pt x="15045" y="0"/>
                    <a:pt x="20475" y="0"/>
                  </a:cubicBezTo>
                  <a:close/>
                </a:path>
              </a:pathLst>
            </a:custGeom>
            <a:solidFill>
              <a:srgbClr val="4A7FF7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76200"/>
              <a:ext cx="850953" cy="1987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308248" y="1370029"/>
            <a:ext cx="5812455" cy="709856"/>
            <a:chOff x="0" y="0"/>
            <a:chExt cx="1168296" cy="14606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168296" cy="146061"/>
            </a:xfrm>
            <a:custGeom>
              <a:avLst/>
              <a:gdLst/>
              <a:ahLst/>
              <a:cxnLst/>
              <a:rect l="l" t="t" r="r" b="b"/>
              <a:pathLst>
                <a:path w="1168296" h="146061">
                  <a:moveTo>
                    <a:pt x="14913" y="0"/>
                  </a:moveTo>
                  <a:lnTo>
                    <a:pt x="1153382" y="0"/>
                  </a:lnTo>
                  <a:cubicBezTo>
                    <a:pt x="1161619" y="0"/>
                    <a:pt x="1168296" y="6677"/>
                    <a:pt x="1168296" y="14913"/>
                  </a:cubicBezTo>
                  <a:lnTo>
                    <a:pt x="1168296" y="131148"/>
                  </a:lnTo>
                  <a:cubicBezTo>
                    <a:pt x="1168296" y="139384"/>
                    <a:pt x="1161619" y="146061"/>
                    <a:pt x="1153382" y="146061"/>
                  </a:cubicBezTo>
                  <a:lnTo>
                    <a:pt x="14913" y="146061"/>
                  </a:lnTo>
                  <a:cubicBezTo>
                    <a:pt x="6677" y="146061"/>
                    <a:pt x="0" y="139384"/>
                    <a:pt x="0" y="131148"/>
                  </a:cubicBezTo>
                  <a:lnTo>
                    <a:pt x="0" y="14913"/>
                  </a:lnTo>
                  <a:cubicBezTo>
                    <a:pt x="0" y="6677"/>
                    <a:pt x="6677" y="0"/>
                    <a:pt x="14913" y="0"/>
                  </a:cubicBezTo>
                  <a:close/>
                </a:path>
              </a:pathLst>
            </a:custGeom>
            <a:solidFill>
              <a:srgbClr val="4A7FF7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76200"/>
              <a:ext cx="1168296" cy="222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4327118" y="6043538"/>
            <a:ext cx="1558448" cy="553877"/>
            <a:chOff x="0" y="0"/>
            <a:chExt cx="320668" cy="11396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20668" cy="113966"/>
            </a:xfrm>
            <a:custGeom>
              <a:avLst/>
              <a:gdLst/>
              <a:ahLst/>
              <a:cxnLst/>
              <a:rect l="l" t="t" r="r" b="b"/>
              <a:pathLst>
                <a:path w="320668" h="113966">
                  <a:moveTo>
                    <a:pt x="54334" y="0"/>
                  </a:moveTo>
                  <a:lnTo>
                    <a:pt x="266334" y="0"/>
                  </a:lnTo>
                  <a:cubicBezTo>
                    <a:pt x="280744" y="0"/>
                    <a:pt x="294564" y="5724"/>
                    <a:pt x="304754" y="15914"/>
                  </a:cubicBezTo>
                  <a:cubicBezTo>
                    <a:pt x="314944" y="26104"/>
                    <a:pt x="320668" y="39924"/>
                    <a:pt x="320668" y="54334"/>
                  </a:cubicBezTo>
                  <a:lnTo>
                    <a:pt x="320668" y="59632"/>
                  </a:lnTo>
                  <a:cubicBezTo>
                    <a:pt x="320668" y="74042"/>
                    <a:pt x="314944" y="87863"/>
                    <a:pt x="304754" y="98052"/>
                  </a:cubicBezTo>
                  <a:cubicBezTo>
                    <a:pt x="294564" y="108242"/>
                    <a:pt x="280744" y="113966"/>
                    <a:pt x="266334" y="113966"/>
                  </a:cubicBezTo>
                  <a:lnTo>
                    <a:pt x="54334" y="113966"/>
                  </a:lnTo>
                  <a:cubicBezTo>
                    <a:pt x="39924" y="113966"/>
                    <a:pt x="26104" y="108242"/>
                    <a:pt x="15914" y="98052"/>
                  </a:cubicBezTo>
                  <a:cubicBezTo>
                    <a:pt x="5724" y="87863"/>
                    <a:pt x="0" y="74042"/>
                    <a:pt x="0" y="59632"/>
                  </a:cubicBezTo>
                  <a:lnTo>
                    <a:pt x="0" y="54334"/>
                  </a:lnTo>
                  <a:cubicBezTo>
                    <a:pt x="0" y="39924"/>
                    <a:pt x="5724" y="26104"/>
                    <a:pt x="15914" y="15914"/>
                  </a:cubicBezTo>
                  <a:cubicBezTo>
                    <a:pt x="26104" y="5724"/>
                    <a:pt x="39924" y="0"/>
                    <a:pt x="54334" y="0"/>
                  </a:cubicBezTo>
                  <a:close/>
                </a:path>
              </a:pathLst>
            </a:custGeom>
            <a:solidFill>
              <a:srgbClr val="DDB8FF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76200"/>
              <a:ext cx="320668" cy="190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897837" y="6864809"/>
            <a:ext cx="6229246" cy="1814152"/>
            <a:chOff x="0" y="0"/>
            <a:chExt cx="1281738" cy="37328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281738" cy="373282"/>
            </a:xfrm>
            <a:custGeom>
              <a:avLst/>
              <a:gdLst/>
              <a:ahLst/>
              <a:cxnLst/>
              <a:rect l="l" t="t" r="r" b="b"/>
              <a:pathLst>
                <a:path w="1281738" h="373282">
                  <a:moveTo>
                    <a:pt x="13594" y="0"/>
                  </a:moveTo>
                  <a:lnTo>
                    <a:pt x="1268144" y="0"/>
                  </a:lnTo>
                  <a:cubicBezTo>
                    <a:pt x="1271750" y="0"/>
                    <a:pt x="1275207" y="1432"/>
                    <a:pt x="1277756" y="3981"/>
                  </a:cubicBezTo>
                  <a:cubicBezTo>
                    <a:pt x="1280306" y="6531"/>
                    <a:pt x="1281738" y="9988"/>
                    <a:pt x="1281738" y="13594"/>
                  </a:cubicBezTo>
                  <a:lnTo>
                    <a:pt x="1281738" y="359689"/>
                  </a:lnTo>
                  <a:cubicBezTo>
                    <a:pt x="1281738" y="363294"/>
                    <a:pt x="1280306" y="366751"/>
                    <a:pt x="1277756" y="369301"/>
                  </a:cubicBezTo>
                  <a:cubicBezTo>
                    <a:pt x="1275207" y="371850"/>
                    <a:pt x="1271750" y="373282"/>
                    <a:pt x="1268144" y="373282"/>
                  </a:cubicBezTo>
                  <a:lnTo>
                    <a:pt x="13594" y="373282"/>
                  </a:lnTo>
                  <a:cubicBezTo>
                    <a:pt x="9988" y="373282"/>
                    <a:pt x="6531" y="371850"/>
                    <a:pt x="3981" y="369301"/>
                  </a:cubicBezTo>
                  <a:cubicBezTo>
                    <a:pt x="1432" y="366751"/>
                    <a:pt x="0" y="363294"/>
                    <a:pt x="0" y="359689"/>
                  </a:cubicBezTo>
                  <a:lnTo>
                    <a:pt x="0" y="13594"/>
                  </a:lnTo>
                  <a:cubicBezTo>
                    <a:pt x="0" y="9988"/>
                    <a:pt x="1432" y="6531"/>
                    <a:pt x="3981" y="3981"/>
                  </a:cubicBezTo>
                  <a:cubicBezTo>
                    <a:pt x="6531" y="1432"/>
                    <a:pt x="9988" y="0"/>
                    <a:pt x="13594" y="0"/>
                  </a:cubicBezTo>
                  <a:close/>
                </a:path>
              </a:pathLst>
            </a:custGeom>
            <a:solidFill>
              <a:srgbClr val="DDB8FF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76200"/>
              <a:ext cx="1281738" cy="449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53390" y="5989964"/>
            <a:ext cx="4256617" cy="553164"/>
            <a:chOff x="0" y="0"/>
            <a:chExt cx="875847" cy="11382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75847" cy="113820"/>
            </a:xfrm>
            <a:custGeom>
              <a:avLst/>
              <a:gdLst/>
              <a:ahLst/>
              <a:cxnLst/>
              <a:rect l="l" t="t" r="r" b="b"/>
              <a:pathLst>
                <a:path w="875847" h="113820">
                  <a:moveTo>
                    <a:pt x="19893" y="0"/>
                  </a:moveTo>
                  <a:lnTo>
                    <a:pt x="855954" y="0"/>
                  </a:lnTo>
                  <a:cubicBezTo>
                    <a:pt x="861230" y="0"/>
                    <a:pt x="866290" y="2096"/>
                    <a:pt x="870021" y="5827"/>
                  </a:cubicBezTo>
                  <a:cubicBezTo>
                    <a:pt x="873751" y="9557"/>
                    <a:pt x="875847" y="14617"/>
                    <a:pt x="875847" y="19893"/>
                  </a:cubicBezTo>
                  <a:lnTo>
                    <a:pt x="875847" y="93927"/>
                  </a:lnTo>
                  <a:cubicBezTo>
                    <a:pt x="875847" y="99203"/>
                    <a:pt x="873751" y="104262"/>
                    <a:pt x="870021" y="107993"/>
                  </a:cubicBezTo>
                  <a:cubicBezTo>
                    <a:pt x="866290" y="111724"/>
                    <a:pt x="861230" y="113820"/>
                    <a:pt x="855954" y="113820"/>
                  </a:cubicBezTo>
                  <a:lnTo>
                    <a:pt x="19893" y="113820"/>
                  </a:lnTo>
                  <a:cubicBezTo>
                    <a:pt x="14617" y="113820"/>
                    <a:pt x="9557" y="111724"/>
                    <a:pt x="5827" y="107993"/>
                  </a:cubicBezTo>
                  <a:cubicBezTo>
                    <a:pt x="2096" y="104262"/>
                    <a:pt x="0" y="99203"/>
                    <a:pt x="0" y="93927"/>
                  </a:cubicBezTo>
                  <a:lnTo>
                    <a:pt x="0" y="19893"/>
                  </a:lnTo>
                  <a:cubicBezTo>
                    <a:pt x="0" y="14617"/>
                    <a:pt x="2096" y="9557"/>
                    <a:pt x="5827" y="5827"/>
                  </a:cubicBezTo>
                  <a:cubicBezTo>
                    <a:pt x="9557" y="2096"/>
                    <a:pt x="14617" y="0"/>
                    <a:pt x="19893" y="0"/>
                  </a:cubicBezTo>
                  <a:close/>
                </a:path>
              </a:pathLst>
            </a:custGeom>
            <a:solidFill>
              <a:srgbClr val="DDB8FF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76200"/>
              <a:ext cx="875847" cy="190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520002" y="6821885"/>
            <a:ext cx="2958407" cy="651567"/>
            <a:chOff x="0" y="0"/>
            <a:chExt cx="608726" cy="134067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08726" cy="134067"/>
            </a:xfrm>
            <a:custGeom>
              <a:avLst/>
              <a:gdLst/>
              <a:ahLst/>
              <a:cxnLst/>
              <a:rect l="l" t="t" r="r" b="b"/>
              <a:pathLst>
                <a:path w="608726" h="134067">
                  <a:moveTo>
                    <a:pt x="28623" y="0"/>
                  </a:moveTo>
                  <a:lnTo>
                    <a:pt x="580103" y="0"/>
                  </a:lnTo>
                  <a:cubicBezTo>
                    <a:pt x="587694" y="0"/>
                    <a:pt x="594975" y="3016"/>
                    <a:pt x="600342" y="8383"/>
                  </a:cubicBezTo>
                  <a:cubicBezTo>
                    <a:pt x="605710" y="13751"/>
                    <a:pt x="608726" y="21031"/>
                    <a:pt x="608726" y="28623"/>
                  </a:cubicBezTo>
                  <a:lnTo>
                    <a:pt x="608726" y="105445"/>
                  </a:lnTo>
                  <a:cubicBezTo>
                    <a:pt x="608726" y="121252"/>
                    <a:pt x="595911" y="134067"/>
                    <a:pt x="580103" y="134067"/>
                  </a:cubicBezTo>
                  <a:lnTo>
                    <a:pt x="28623" y="134067"/>
                  </a:lnTo>
                  <a:cubicBezTo>
                    <a:pt x="12815" y="134067"/>
                    <a:pt x="0" y="121252"/>
                    <a:pt x="0" y="105445"/>
                  </a:cubicBezTo>
                  <a:lnTo>
                    <a:pt x="0" y="28623"/>
                  </a:lnTo>
                  <a:cubicBezTo>
                    <a:pt x="0" y="12815"/>
                    <a:pt x="12815" y="0"/>
                    <a:pt x="28623" y="0"/>
                  </a:cubicBezTo>
                  <a:close/>
                </a:path>
              </a:pathLst>
            </a:custGeom>
            <a:solidFill>
              <a:srgbClr val="DDB8FF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76200"/>
              <a:ext cx="608726" cy="2102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570564" y="7633692"/>
            <a:ext cx="2298354" cy="361420"/>
            <a:chOff x="0" y="0"/>
            <a:chExt cx="472912" cy="7436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72912" cy="74366"/>
            </a:xfrm>
            <a:custGeom>
              <a:avLst/>
              <a:gdLst/>
              <a:ahLst/>
              <a:cxnLst/>
              <a:rect l="l" t="t" r="r" b="b"/>
              <a:pathLst>
                <a:path w="472912" h="74366">
                  <a:moveTo>
                    <a:pt x="26316" y="0"/>
                  </a:moveTo>
                  <a:lnTo>
                    <a:pt x="446596" y="0"/>
                  </a:lnTo>
                  <a:cubicBezTo>
                    <a:pt x="461130" y="0"/>
                    <a:pt x="472912" y="11782"/>
                    <a:pt x="472912" y="26316"/>
                  </a:cubicBezTo>
                  <a:lnTo>
                    <a:pt x="472912" y="48050"/>
                  </a:lnTo>
                  <a:cubicBezTo>
                    <a:pt x="472912" y="55030"/>
                    <a:pt x="470140" y="61723"/>
                    <a:pt x="465204" y="66658"/>
                  </a:cubicBezTo>
                  <a:cubicBezTo>
                    <a:pt x="460269" y="71594"/>
                    <a:pt x="453576" y="74366"/>
                    <a:pt x="446596" y="74366"/>
                  </a:cubicBezTo>
                  <a:lnTo>
                    <a:pt x="26316" y="74366"/>
                  </a:lnTo>
                  <a:cubicBezTo>
                    <a:pt x="11782" y="74366"/>
                    <a:pt x="0" y="62584"/>
                    <a:pt x="0" y="48050"/>
                  </a:cubicBezTo>
                  <a:lnTo>
                    <a:pt x="0" y="26316"/>
                  </a:lnTo>
                  <a:cubicBezTo>
                    <a:pt x="0" y="11782"/>
                    <a:pt x="11782" y="0"/>
                    <a:pt x="26316" y="0"/>
                  </a:cubicBezTo>
                  <a:close/>
                </a:path>
              </a:pathLst>
            </a:custGeom>
            <a:solidFill>
              <a:srgbClr val="DDB8FF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76200"/>
              <a:ext cx="472912" cy="1505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656373" y="6791035"/>
            <a:ext cx="2380099" cy="997875"/>
            <a:chOff x="0" y="0"/>
            <a:chExt cx="489732" cy="20532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89732" cy="205324"/>
            </a:xfrm>
            <a:custGeom>
              <a:avLst/>
              <a:gdLst/>
              <a:ahLst/>
              <a:cxnLst/>
              <a:rect l="l" t="t" r="r" b="b"/>
              <a:pathLst>
                <a:path w="489732" h="205324">
                  <a:moveTo>
                    <a:pt x="25412" y="0"/>
                  </a:moveTo>
                  <a:lnTo>
                    <a:pt x="464320" y="0"/>
                  </a:lnTo>
                  <a:cubicBezTo>
                    <a:pt x="471060" y="0"/>
                    <a:pt x="477524" y="2677"/>
                    <a:pt x="482289" y="7443"/>
                  </a:cubicBezTo>
                  <a:cubicBezTo>
                    <a:pt x="487055" y="12209"/>
                    <a:pt x="489732" y="18673"/>
                    <a:pt x="489732" y="25412"/>
                  </a:cubicBezTo>
                  <a:lnTo>
                    <a:pt x="489732" y="179912"/>
                  </a:lnTo>
                  <a:cubicBezTo>
                    <a:pt x="489732" y="186652"/>
                    <a:pt x="487055" y="193115"/>
                    <a:pt x="482289" y="197881"/>
                  </a:cubicBezTo>
                  <a:cubicBezTo>
                    <a:pt x="477524" y="202647"/>
                    <a:pt x="471060" y="205324"/>
                    <a:pt x="464320" y="205324"/>
                  </a:cubicBezTo>
                  <a:lnTo>
                    <a:pt x="25412" y="205324"/>
                  </a:lnTo>
                  <a:cubicBezTo>
                    <a:pt x="18673" y="205324"/>
                    <a:pt x="12209" y="202647"/>
                    <a:pt x="7443" y="197881"/>
                  </a:cubicBezTo>
                  <a:cubicBezTo>
                    <a:pt x="2677" y="193115"/>
                    <a:pt x="0" y="186652"/>
                    <a:pt x="0" y="179912"/>
                  </a:cubicBezTo>
                  <a:lnTo>
                    <a:pt x="0" y="25412"/>
                  </a:lnTo>
                  <a:cubicBezTo>
                    <a:pt x="0" y="18673"/>
                    <a:pt x="2677" y="12209"/>
                    <a:pt x="7443" y="7443"/>
                  </a:cubicBezTo>
                  <a:cubicBezTo>
                    <a:pt x="12209" y="2677"/>
                    <a:pt x="18673" y="0"/>
                    <a:pt x="25412" y="0"/>
                  </a:cubicBezTo>
                  <a:close/>
                </a:path>
              </a:pathLst>
            </a:custGeom>
            <a:solidFill>
              <a:srgbClr val="DDB8FF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76200"/>
              <a:ext cx="489732" cy="2815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2030678" y="6877685"/>
            <a:ext cx="6028722" cy="176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COMPUESTO POR 977 IMÁGENES, 58.2% SIN EL IDENTIFICADOR PRESENTE Y 41.8% CON. 85% ES DEDICADO PARA EL ENTRENAMIENTO DEL MODELO Y 15% PARA EVALUAR SU DESEMPEÑO.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62036" y="5640070"/>
            <a:ext cx="4939821" cy="401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EL MODELO, QUE RECIBE COMO ENTRADA UNA IMAGEN EN ESCALA DE GRISES DE TAMAÑO 96 X 96 PIXELES, TIENE 3 SECUENCIAS DE UNA CAPA CONVOLUCIONAL, UN BATCHNORM Y UN MAXPOOL. UNA VEZ COMPLETADAS LAS SECUENCIAS, SE APLICA UNA CAPA DE GLOB_AVG_POOL Y SE ACTIVA UN DROPOUT QUE DESACTIVA EL 50% DE LOS PERCEPTRONES. COMO CAPAS FINALES, SE APLICA UNA FUNCIÓN RELU Y SOFTMAX.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344175" y="1177984"/>
            <a:ext cx="3194453" cy="439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PARA EL ENTRENAMIENTO DEL MODELO, PRIMERO SE APLICÓ RANDOMFLIP HORIZONTAL, RANDOMROTATION, RANDOMZOOM, RANDOMBRIGHTNESS Y RANDOMCONTRAST PARA REALIZAR AUMENTACIÓN DE LOS DATOS. UNA VEZ HECHO ESTO, SE ENTRENÓ EL MODELO CON LOS HIPERPARÁMETROS DE LA TABLA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259278" y="657224"/>
            <a:ext cx="6028722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TÉCNICAS DE COMPRESIÓN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62036" y="428625"/>
            <a:ext cx="4939821" cy="561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MODELO KERAS DE TENSORFLOW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201857" y="381000"/>
            <a:ext cx="6028072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ESTRATEGIA DE ENTRENAMIENTO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201857" y="6036430"/>
            <a:ext cx="6028722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PROPIEDADES Y DESEMPEÑO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2091981" y="6036430"/>
            <a:ext cx="6028722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DATASET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326757" y="7611110"/>
            <a:ext cx="2820931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ACCURACY = 86.49%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629425" y="6817480"/>
            <a:ext cx="2754563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LATENCIA MEDIDA = 200 [MS]   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ENERGÍA MEDIDA = 89.4 [MJ]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62686" y="9754224"/>
            <a:ext cx="4939821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NÚMERO TOTAL DE PARÁMETROS = 25890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2308248" y="1396547"/>
            <a:ext cx="5751152" cy="6756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UNA VEZ ENTRENADO, EL MODELO ES COMPRIMIDO MEDIANTE CUANTIZACIÓN Y TRANSFORMADO A UN ARRAY C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734216" y="6817480"/>
            <a:ext cx="2490491" cy="954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TAMAÑO = 36.2 KB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CARGA COMPUTACIONAL: 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22.562.880 MACS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385</Words>
  <Application>Microsoft Office PowerPoint</Application>
  <PresentationFormat>Personalizado</PresentationFormat>
  <Paragraphs>46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Arial</vt:lpstr>
      <vt:lpstr>Scripter</vt:lpstr>
      <vt:lpstr>Calibri</vt:lpstr>
      <vt:lpstr>Montserrat</vt:lpstr>
      <vt:lpstr>Montserrat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SUMOTRON</dc:title>
  <cp:lastModifiedBy>Vicente Abalos</cp:lastModifiedBy>
  <cp:revision>3</cp:revision>
  <dcterms:created xsi:type="dcterms:W3CDTF">2006-08-16T00:00:00Z</dcterms:created>
  <dcterms:modified xsi:type="dcterms:W3CDTF">2026-06-23T22:27:45Z</dcterms:modified>
  <dc:identifier>DAHNPchU0Ec</dc:identifier>
</cp:coreProperties>
</file>